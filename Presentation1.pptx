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7CA0BB-931B-4E9F-A82A-C415686093C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Untitled Section" id="{4E687FFD-B843-4AA3-AC91-038AC449614D}">
          <p14:sldIdLst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9395-F83B-2D53-4F91-A3D20D2E4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B1AF5-31C7-B7F2-B23C-88F192A3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03D0-C88E-9051-A5B8-ECD43B3B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86A37-A8F6-CC6D-9FE6-D8EFCA31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4660-9BD1-3E40-FD97-906759F0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4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DC5D-BE55-62E1-2BAA-5634B7BA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B5CF-4BD8-5C31-64D3-0490A2933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70060-3366-0154-8FF6-5257B1BF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D9442-52C0-FF74-DA20-9CA536C2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18AF-F90B-C91C-3E37-3967D5B9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5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C2C0-04D8-E470-BA2F-228C473D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EF83C-E068-6FCC-6E33-339E32B81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64BAB-6C13-DF9D-7AEE-2FB8F237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3F515-0FEE-F897-C7D3-F9176811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C331F-33A9-3C37-2EDF-4E362F62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3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97C9-F70F-F00D-22DE-BC040B53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3380-3130-0AC2-298F-2E419D56F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5D3BF-23BE-A666-6078-B0ADB315D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0EF45-C5E7-1FB6-B068-EDE027E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0B4F6-4359-FC85-53CA-ED5C3AB8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B045-30D3-AF95-102F-C533B13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5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8CE7-8022-FB06-375B-11C433B0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2525-3EE6-D058-9EBC-123E7FAE8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B387C-CF21-FE96-C52A-643C958AB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56B6D-BC60-E061-DB14-67BC80157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A631D-1394-64BB-4F3E-7E4CF2559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ED7A0-62B4-6EBF-E474-566FA3BD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E16A5-713B-A0F0-48D2-23542617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C1883-1DF3-5C31-B1CA-2C4D473B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0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B2E6-2713-6A72-B9AA-5C59B9FE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2E30C-1765-E6AD-67E9-A107EE17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AE3CD-2271-6F66-4E6C-2128AA1F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9EE32-A6DB-72B8-B03B-D0CE959B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49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E61B4-6096-D011-8D8D-21616631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8C75E-A04D-F77A-8FE3-B1369C03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AF21F-92C0-F4BB-E39B-0B6C9C31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55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85168-21F0-46CA-85D3-2C88ADB3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8865-4068-B024-03B2-60E9F844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E6471-ACC2-5442-1958-203F1FB9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BB6A8-5CD1-0222-CDB0-BA18AE1C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A762A-C3C7-1CA6-D19D-75FECD5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66EED-27C3-38A2-D46E-CAFA06B0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2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8F2F-8DC7-E8B9-B9BE-6AD67695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FBC0A-A600-99AB-B6B5-1050EE89A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60026-48E8-BBD9-58E0-AA41A2811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4B227-CD80-22A0-69CD-C8791FC7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C2E36-A635-60AD-F188-F49D17F1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49DD4-4FC2-068C-D6A8-D5F4AD3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7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59AB-A363-06E6-709B-7FF9FAA2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2B7AD-F95C-A558-F7DC-11F1931C6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8A18-9749-D7DA-CA24-E4B9935F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49E1A-F33A-1080-2C6C-C36C1F1B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2F3-462F-8C70-3DFA-E43E6649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3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B7C83-625F-B727-1029-9C0A7460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F46C7-94C3-D64F-3AE2-FAA0E3205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8B14-8682-0479-C77E-429CDF7B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5359D-62DD-376A-EF02-229917DE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DC546-EFC7-4FE6-378A-8A94B424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1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8DD42-7236-B26D-2CF2-E915421F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3E6C3-CAB8-F6A3-394C-6EB96DCCC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2D432-64D0-EDE8-49C8-F02AFC72F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EEF3C-B446-42D9-BECE-E6ACB1CBFCE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09030-3C8C-21FF-DF93-63D8F64E3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8C43-4F7F-CD00-3E4D-9F89881B0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04C5A-0CC1-4E5F-A714-FAF3F532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97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889F-BBDE-3EAD-1CAC-23328B215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/>
              <a:t>AgriBid</a:t>
            </a:r>
            <a:r>
              <a:rPr lang="en-IN" b="1" dirty="0"/>
              <a:t> – A Transparent Reverse Procurement Marketplace for Farmers and Suppliers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46B0E-26E9-5730-BC46-133A7E572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Subtitle</a:t>
            </a:r>
            <a:br>
              <a:rPr lang="en-IN" dirty="0"/>
            </a:br>
            <a:r>
              <a:rPr lang="en-IN" i="1" dirty="0"/>
              <a:t>A Digital Platform for Fair Pricing, Transparent Procurement, and Efficient Agricultural Supply Chain</a:t>
            </a:r>
            <a:endParaRPr lang="en-IN" dirty="0"/>
          </a:p>
          <a:p>
            <a:r>
              <a:rPr lang="en-IN" dirty="0"/>
              <a:t>Team Members   -  Ninad Patil , Aditya Patil , Piyush Patil</a:t>
            </a:r>
          </a:p>
          <a:p>
            <a:r>
              <a:rPr lang="en-IN" dirty="0"/>
              <a:t>Guide  -  Sainath Patil</a:t>
            </a:r>
          </a:p>
          <a:p>
            <a:r>
              <a:rPr lang="en-IN" dirty="0"/>
              <a:t>Department  - IT</a:t>
            </a:r>
          </a:p>
          <a:p>
            <a:r>
              <a:rPr lang="en-IN" dirty="0"/>
              <a:t>College  -  VCET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89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8105-CB1A-9F92-62AC-AA72E670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6660E-424B-D46E-358A-D60E47E34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1360"/>
          </a:xfrm>
        </p:spPr>
        <p:txBody>
          <a:bodyPr>
            <a:normAutofit fontScale="25000" lnSpcReduction="20000"/>
          </a:bodyPr>
          <a:lstStyle/>
          <a:p>
            <a:r>
              <a:rPr lang="en-IN" sz="5600" b="1" dirty="0"/>
              <a:t>Current Scenario</a:t>
            </a:r>
          </a:p>
          <a:p>
            <a:r>
              <a:rPr lang="en-IN" sz="5600" dirty="0"/>
              <a:t>India has over </a:t>
            </a:r>
            <a:r>
              <a:rPr lang="en-IN" sz="5600" b="1" dirty="0"/>
              <a:t>140 million farmers</a:t>
            </a:r>
            <a:r>
              <a:rPr lang="en-IN" sz="5600" dirty="0"/>
              <a:t>, many of whom depend on local traders or middlemen to sell their produce.</a:t>
            </a:r>
          </a:p>
          <a:p>
            <a:r>
              <a:rPr lang="en-IN" sz="5600" dirty="0"/>
              <a:t>Major challenges include:</a:t>
            </a:r>
          </a:p>
          <a:p>
            <a:pPr lvl="0"/>
            <a:r>
              <a:rPr lang="en-IN" sz="5600" dirty="0"/>
              <a:t>Farmers are unaware of real-time market prices. </a:t>
            </a:r>
          </a:p>
          <a:p>
            <a:pPr lvl="0"/>
            <a:r>
              <a:rPr lang="en-IN" sz="5600" dirty="0"/>
              <a:t>Middlemen often exploit information asymmetry. </a:t>
            </a:r>
          </a:p>
          <a:p>
            <a:pPr lvl="0"/>
            <a:r>
              <a:rPr lang="en-IN" sz="5600" dirty="0"/>
              <a:t>Lack of direct communication between suppliers and farmers. </a:t>
            </a:r>
          </a:p>
          <a:p>
            <a:pPr lvl="0"/>
            <a:r>
              <a:rPr lang="en-IN" sz="5600" dirty="0"/>
              <a:t>No competitive bidding mechanism. </a:t>
            </a:r>
          </a:p>
          <a:p>
            <a:pPr lvl="0"/>
            <a:r>
              <a:rPr lang="en-IN" sz="5600" dirty="0"/>
              <a:t>Limited transparency in procurement. </a:t>
            </a:r>
          </a:p>
          <a:p>
            <a:pPr lvl="0"/>
            <a:r>
              <a:rPr lang="en-IN" sz="5600" dirty="0"/>
              <a:t>Delayed or unfair payments. </a:t>
            </a:r>
          </a:p>
          <a:p>
            <a:pPr lvl="0"/>
            <a:r>
              <a:rPr lang="en-IN" sz="5600" dirty="0"/>
              <a:t>No centralized platform for procurement and logistics. </a:t>
            </a:r>
          </a:p>
          <a:p>
            <a:r>
              <a:rPr lang="en-IN" sz="5600" dirty="0"/>
              <a:t>Example:</a:t>
            </a:r>
          </a:p>
          <a:p>
            <a:pPr marL="0" indent="0">
              <a:buNone/>
            </a:pPr>
            <a:r>
              <a:rPr lang="en-IN" sz="5600" dirty="0"/>
              <a:t>         Market price of Onion = ₹35/kg</a:t>
            </a:r>
          </a:p>
          <a:p>
            <a:pPr marL="0" indent="0">
              <a:buNone/>
            </a:pPr>
            <a:r>
              <a:rPr lang="en-IN" sz="5600" dirty="0"/>
              <a:t>         Middleman offers = ₹10/kg</a:t>
            </a:r>
          </a:p>
          <a:p>
            <a:r>
              <a:rPr lang="en-IN" sz="5600" dirty="0"/>
              <a:t>Farmer has little choice and accepts.</a:t>
            </a:r>
          </a:p>
          <a:p>
            <a:r>
              <a:rPr lang="en-IN" sz="5600" dirty="0"/>
              <a:t>Result:</a:t>
            </a:r>
          </a:p>
          <a:p>
            <a:pPr lvl="0"/>
            <a:r>
              <a:rPr lang="en-IN" sz="5600" dirty="0"/>
              <a:t>Farmer suffers financial loss. </a:t>
            </a:r>
          </a:p>
          <a:p>
            <a:pPr lvl="0"/>
            <a:r>
              <a:rPr lang="en-IN" sz="5600" dirty="0"/>
              <a:t>Supplier pays inconsistent prices. </a:t>
            </a:r>
          </a:p>
          <a:p>
            <a:pPr lvl="0"/>
            <a:r>
              <a:rPr lang="en-IN" sz="5600" dirty="0"/>
              <a:t>Entire supply chain becomes inefficient.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4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FCE1-7BE0-C208-1AB2-5FF85B7E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DF69-F58C-E499-8841-12B1B69F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3400" b="1" dirty="0" err="1"/>
              <a:t>AgriBid</a:t>
            </a:r>
            <a:endParaRPr lang="en-IN" sz="3400" b="1" dirty="0"/>
          </a:p>
          <a:p>
            <a:r>
              <a:rPr lang="en-IN" sz="3400" dirty="0"/>
              <a:t>A digital procurement platform that directly connects</a:t>
            </a:r>
          </a:p>
          <a:p>
            <a:pPr lvl="0"/>
            <a:r>
              <a:rPr lang="en-IN" sz="3400" dirty="0"/>
              <a:t>Farmers </a:t>
            </a:r>
          </a:p>
          <a:p>
            <a:pPr lvl="0"/>
            <a:r>
              <a:rPr lang="en-IN" sz="3400" dirty="0"/>
              <a:t>Suppliers/Wholesalers </a:t>
            </a:r>
          </a:p>
          <a:p>
            <a:pPr lvl="0"/>
            <a:r>
              <a:rPr lang="en-IN" sz="3400" dirty="0"/>
              <a:t>Customers </a:t>
            </a:r>
          </a:p>
          <a:p>
            <a:r>
              <a:rPr lang="en-IN" sz="3400" dirty="0"/>
              <a:t>through a transparent bidding process.</a:t>
            </a:r>
          </a:p>
          <a:p>
            <a:pPr marL="0" indent="0">
              <a:buNone/>
            </a:pPr>
            <a:r>
              <a:rPr lang="en-IN" sz="3400" dirty="0"/>
              <a:t>Core Features</a:t>
            </a:r>
          </a:p>
          <a:p>
            <a:pPr lvl="0"/>
            <a:r>
              <a:rPr lang="en-IN" sz="3400" dirty="0"/>
              <a:t>Reverse Procurement </a:t>
            </a:r>
          </a:p>
          <a:p>
            <a:pPr lvl="0"/>
            <a:r>
              <a:rPr lang="en-IN" sz="3400" dirty="0"/>
              <a:t>Competitive Farmer Bidding </a:t>
            </a:r>
          </a:p>
          <a:p>
            <a:pPr lvl="0"/>
            <a:r>
              <a:rPr lang="en-IN" sz="3400" dirty="0"/>
              <a:t>Product Image-Based Quality Assurance </a:t>
            </a:r>
          </a:p>
          <a:p>
            <a:pPr lvl="0"/>
            <a:r>
              <a:rPr lang="en-IN" sz="3400" dirty="0"/>
              <a:t>Live Market Price Information </a:t>
            </a:r>
          </a:p>
          <a:p>
            <a:pPr lvl="0"/>
            <a:r>
              <a:rPr lang="en-IN" sz="3400" dirty="0"/>
              <a:t>Delivery Tracking </a:t>
            </a:r>
          </a:p>
          <a:p>
            <a:pPr lvl="0"/>
            <a:r>
              <a:rPr lang="en-IN" sz="3400" dirty="0"/>
              <a:t>Digital Payments </a:t>
            </a:r>
          </a:p>
          <a:p>
            <a:pPr lvl="0"/>
            <a:r>
              <a:rPr lang="en-IN" sz="3400" dirty="0"/>
              <a:t>Smart Bid Allocation </a:t>
            </a:r>
          </a:p>
          <a:p>
            <a:pPr lvl="0"/>
            <a:r>
              <a:rPr lang="en-IN" sz="3400" dirty="0"/>
              <a:t>Partial Order </a:t>
            </a:r>
            <a:r>
              <a:rPr lang="en-IN" sz="3400" dirty="0" err="1"/>
              <a:t>Fulfillment</a:t>
            </a:r>
            <a:r>
              <a:rPr lang="en-IN" sz="3400" dirty="0"/>
              <a:t> </a:t>
            </a:r>
          </a:p>
          <a:p>
            <a:r>
              <a:rPr lang="en-IN" sz="3400" dirty="0"/>
              <a:t>Expected Outcome</a:t>
            </a:r>
          </a:p>
          <a:p>
            <a:pPr lvl="0"/>
            <a:r>
              <a:rPr lang="en-IN" sz="3400" dirty="0"/>
              <a:t>Fair pricing </a:t>
            </a:r>
          </a:p>
          <a:p>
            <a:pPr lvl="0"/>
            <a:r>
              <a:rPr lang="en-IN" sz="3400" dirty="0"/>
              <a:t>Reduced exploitation </a:t>
            </a:r>
          </a:p>
          <a:p>
            <a:pPr lvl="0"/>
            <a:r>
              <a:rPr lang="en-IN" sz="3400" dirty="0"/>
              <a:t>Better procurement efficiency </a:t>
            </a:r>
          </a:p>
          <a:p>
            <a:pPr lvl="0"/>
            <a:r>
              <a:rPr lang="en-IN" sz="3400" dirty="0"/>
              <a:t>Improved farmer income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47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CB61-C957-339D-3CBC-4B4D020B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0287-B138-B531-9C16-387B8DEFD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Farmer Module</a:t>
            </a:r>
          </a:p>
          <a:p>
            <a:pPr lvl="0"/>
            <a:r>
              <a:rPr lang="en-IN" dirty="0"/>
              <a:t>Register/Login </a:t>
            </a:r>
          </a:p>
          <a:p>
            <a:pPr lvl="0"/>
            <a:r>
              <a:rPr lang="en-IN" dirty="0"/>
              <a:t>Receive procurement requests </a:t>
            </a:r>
          </a:p>
          <a:p>
            <a:pPr lvl="0"/>
            <a:r>
              <a:rPr lang="en-IN" dirty="0"/>
              <a:t>Submit bids </a:t>
            </a:r>
          </a:p>
          <a:p>
            <a:pPr lvl="0"/>
            <a:r>
              <a:rPr lang="en-IN" dirty="0"/>
              <a:t>Upload crop images </a:t>
            </a:r>
          </a:p>
          <a:p>
            <a:pPr lvl="0"/>
            <a:r>
              <a:rPr lang="en-IN" dirty="0"/>
              <a:t>Track orders </a:t>
            </a:r>
          </a:p>
          <a:p>
            <a:pPr lvl="0"/>
            <a:r>
              <a:rPr lang="en-IN" dirty="0"/>
              <a:t>View payments </a:t>
            </a:r>
          </a:p>
          <a:p>
            <a:pPr lvl="0"/>
            <a:r>
              <a:rPr lang="en-IN" dirty="0"/>
              <a:t>Market price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89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53C2-AB32-EA50-3EE3-A142DC04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1C2D-F683-BDA6-E924-3F8F5BC8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D111-5D6F-75BE-E2BB-1D543C64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Supplier Module</a:t>
            </a:r>
          </a:p>
          <a:p>
            <a:pPr lvl="0"/>
            <a:r>
              <a:rPr lang="en-IN" dirty="0"/>
              <a:t>Post procurement requests </a:t>
            </a:r>
          </a:p>
          <a:p>
            <a:pPr lvl="0"/>
            <a:r>
              <a:rPr lang="en-IN" dirty="0"/>
              <a:t>Choose transport responsibility </a:t>
            </a:r>
          </a:p>
          <a:p>
            <a:pPr lvl="0"/>
            <a:r>
              <a:rPr lang="en-IN" dirty="0"/>
              <a:t>Enable/Disable partial </a:t>
            </a:r>
            <a:r>
              <a:rPr lang="en-IN" dirty="0" err="1"/>
              <a:t>fulfillment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Manual/Smart bid selection </a:t>
            </a:r>
          </a:p>
          <a:p>
            <a:pPr lvl="0"/>
            <a:r>
              <a:rPr lang="en-IN" dirty="0"/>
              <a:t>Track deliveries </a:t>
            </a:r>
          </a:p>
          <a:p>
            <a:pPr lvl="0"/>
            <a:r>
              <a:rPr lang="en-IN" dirty="0"/>
              <a:t>Rate farmers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18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AF35-0286-76DF-CD2B-485B8D0F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FAA4-6479-E221-847E-649E2B19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626D7-27D5-CEB6-6924-0127FF7E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Customer Module</a:t>
            </a:r>
          </a:p>
          <a:p>
            <a:pPr lvl="0"/>
            <a:r>
              <a:rPr lang="en-IN" dirty="0"/>
              <a:t>Browse products </a:t>
            </a:r>
          </a:p>
          <a:p>
            <a:pPr lvl="0"/>
            <a:r>
              <a:rPr lang="en-IN" dirty="0"/>
              <a:t>Purchase products </a:t>
            </a:r>
          </a:p>
          <a:p>
            <a:pPr lvl="0"/>
            <a:r>
              <a:rPr lang="en-IN" dirty="0"/>
              <a:t>Order tracking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33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C75D-DA80-56A6-6C6E-C6C002D2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8CA1-E350-3899-4077-CF041456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3E34-C335-8BA2-5841-FD3BAD742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529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Supplier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Posts Requirement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Relevant Farmers Receive Notification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Farmers Submit Bids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Supplier Reviews Images + Price + Rating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Manual Selection OR Smart Auto Allocation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Order Confirmation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Delivery Tracking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r>
              <a:rPr lang="en-IN" dirty="0"/>
              <a:t>Payment Completed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98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30D9-81FC-2FAB-A02B-F230950C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B895-9F74-5CD5-C9C8-EC6487A3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Research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BD339D-0CBC-AF08-AE10-D6074A4D3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056216"/>
              </p:ext>
            </p:extLst>
          </p:nvPr>
        </p:nvGraphicFramePr>
        <p:xfrm>
          <a:off x="838200" y="1899138"/>
          <a:ext cx="10515600" cy="472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499401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83473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77994164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948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AgriConnect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ML-based marketplace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bidding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36380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 Auction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Fair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logistics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85187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Blockchain Agriculture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89576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Supplier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Procurement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agriculture-specific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55991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E-Procurement Marketplace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Reverse auction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farmer quality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729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73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67FB-141F-5938-4D10-1CD5BE55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13F1-B965-7A4A-DB6C-3AF855BB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Commercial Products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FD061-713E-72CA-A70D-DE2996760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667238"/>
              </p:ext>
            </p:extLst>
          </p:nvPr>
        </p:nvGraphicFramePr>
        <p:xfrm>
          <a:off x="838200" y="2060448"/>
          <a:ext cx="10515600" cy="4432427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226512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21771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5636448"/>
                    </a:ext>
                  </a:extLst>
                </a:gridCol>
              </a:tblGrid>
              <a:tr h="6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096845"/>
                  </a:ext>
                </a:extLst>
              </a:tr>
              <a:tr h="6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National trading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reverse bidding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007641"/>
                  </a:ext>
                </a:extLst>
              </a:tr>
              <a:tr h="6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DeHaat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Farmer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supplier bidding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376481"/>
                  </a:ext>
                </a:extLst>
              </a:tr>
              <a:tr h="6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Ninjacart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Farm-to-retail logistics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Closed procurement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70704"/>
                  </a:ext>
                </a:extLst>
              </a:tr>
              <a:tr h="6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BigHaat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Inputs &amp; advisory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procurement 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432714"/>
                  </a:ext>
                </a:extLst>
              </a:tr>
              <a:tr h="1149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AgroStar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Farm advisory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Doesn't support reverse procurement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42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76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DC17-F1FF-D646-AAA4-8B23DAE6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6A7C-43F5-B30B-680C-DC2B2D26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8F98E0-BFB6-3E59-51A0-C365EE53E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896651"/>
              </p:ext>
            </p:extLst>
          </p:nvPr>
        </p:nvGraphicFramePr>
        <p:xfrm>
          <a:off x="838200" y="2721134"/>
          <a:ext cx="10515600" cy="359432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582349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464219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32246942"/>
                    </a:ext>
                  </a:extLst>
                </a:gridCol>
              </a:tblGrid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AgriBid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18614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Reverse Bidding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70477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Farmer Competition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201599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Image-Based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12109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Partial Fulfillment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612737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 Allocation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15897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36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358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4727-5E04-4FE6-4932-EF4DBAE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BDB0-AA86-BEC5-4484-0DA33785C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Available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D13B8-F864-F72B-9FD2-C2092FF0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Market Price APIs</a:t>
            </a:r>
          </a:p>
          <a:p>
            <a:pPr lvl="0"/>
            <a:r>
              <a:rPr lang="en-IN" dirty="0"/>
              <a:t>AGMARKNET API </a:t>
            </a:r>
          </a:p>
          <a:p>
            <a:pPr lvl="0"/>
            <a:r>
              <a:rPr lang="en-IN" dirty="0" err="1"/>
              <a:t>eNAM</a:t>
            </a:r>
            <a:r>
              <a:rPr lang="en-IN" dirty="0"/>
              <a:t> Price Dashboard </a:t>
            </a:r>
          </a:p>
          <a:p>
            <a:pPr lvl="0"/>
            <a:r>
              <a:rPr lang="en-IN" dirty="0"/>
              <a:t>Open Government Data (India) </a:t>
            </a:r>
          </a:p>
          <a:p>
            <a:pPr marL="0" indent="0">
              <a:buNone/>
            </a:pPr>
            <a:r>
              <a:rPr lang="en-IN" dirty="0"/>
              <a:t>Maps</a:t>
            </a:r>
          </a:p>
          <a:p>
            <a:pPr lvl="0"/>
            <a:r>
              <a:rPr lang="en-IN" dirty="0"/>
              <a:t>Google Maps API </a:t>
            </a:r>
          </a:p>
          <a:p>
            <a:pPr lvl="0"/>
            <a:r>
              <a:rPr lang="en-IN" dirty="0" err="1"/>
              <a:t>Mapbox</a:t>
            </a:r>
            <a:r>
              <a:rPr lang="en-IN" dirty="0"/>
              <a:t> API </a:t>
            </a:r>
          </a:p>
          <a:p>
            <a:pPr marL="0" indent="0">
              <a:buNone/>
            </a:pPr>
            <a:r>
              <a:rPr lang="en-IN" dirty="0"/>
              <a:t>Notifications</a:t>
            </a:r>
          </a:p>
          <a:p>
            <a:pPr lvl="0"/>
            <a:r>
              <a:rPr lang="en-IN" dirty="0"/>
              <a:t>Firebase Cloud Messaging </a:t>
            </a:r>
          </a:p>
          <a:p>
            <a:pPr marL="0" indent="0">
              <a:buNone/>
            </a:pPr>
            <a:r>
              <a:rPr lang="en-IN" dirty="0"/>
              <a:t>Authentication</a:t>
            </a:r>
          </a:p>
          <a:p>
            <a:pPr lvl="0"/>
            <a:r>
              <a:rPr lang="en-IN" dirty="0"/>
              <a:t>Firebase Auth </a:t>
            </a:r>
          </a:p>
          <a:p>
            <a:pPr lvl="0"/>
            <a:r>
              <a:rPr lang="en-IN" dirty="0"/>
              <a:t>JWT </a:t>
            </a:r>
          </a:p>
          <a:p>
            <a:pPr marL="0" indent="0">
              <a:buNone/>
            </a:pPr>
            <a:r>
              <a:rPr lang="en-IN" dirty="0"/>
              <a:t>Payments</a:t>
            </a:r>
          </a:p>
          <a:p>
            <a:pPr lvl="0"/>
            <a:r>
              <a:rPr lang="en-IN" dirty="0" err="1"/>
              <a:t>Razorpay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Stripe </a:t>
            </a:r>
          </a:p>
          <a:p>
            <a:pPr marL="0" indent="0">
              <a:buNone/>
            </a:pPr>
            <a:r>
              <a:rPr lang="en-IN" dirty="0"/>
              <a:t>Storage</a:t>
            </a:r>
          </a:p>
          <a:p>
            <a:pPr lvl="0"/>
            <a:r>
              <a:rPr lang="en-IN" dirty="0" err="1"/>
              <a:t>Cloudinary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AI</a:t>
            </a:r>
          </a:p>
          <a:p>
            <a:pPr lvl="0"/>
            <a:r>
              <a:rPr lang="en-IN" dirty="0"/>
              <a:t>OpenCV </a:t>
            </a:r>
          </a:p>
          <a:p>
            <a:pPr lvl="0"/>
            <a:r>
              <a:rPr lang="en-IN" dirty="0"/>
              <a:t>TensorFlow </a:t>
            </a:r>
          </a:p>
          <a:p>
            <a:pPr lvl="0"/>
            <a:r>
              <a:rPr lang="en-IN" dirty="0"/>
              <a:t>Hugging Face Models </a:t>
            </a:r>
          </a:p>
          <a:p>
            <a:pPr marL="0" indent="0">
              <a:buNone/>
            </a:pPr>
            <a:r>
              <a:rPr lang="en-IN" dirty="0"/>
              <a:t>Weather</a:t>
            </a:r>
          </a:p>
          <a:p>
            <a:pPr lvl="0"/>
            <a:r>
              <a:rPr lang="en-IN" dirty="0" err="1"/>
              <a:t>OpenWeather</a:t>
            </a:r>
            <a:r>
              <a:rPr lang="en-IN" dirty="0"/>
              <a:t> API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70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CFFE-AC7B-32F2-D0DB-DF508C77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2F0C-0342-F255-4A61-FE1126A9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CDC8F-D80E-56E4-69AB-F3F7BAA0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Frontend</a:t>
            </a:r>
          </a:p>
          <a:p>
            <a:pPr lvl="0"/>
            <a:r>
              <a:rPr lang="en-IN" dirty="0"/>
              <a:t>React </a:t>
            </a:r>
          </a:p>
          <a:p>
            <a:pPr lvl="0"/>
            <a:r>
              <a:rPr lang="en-IN" dirty="0"/>
              <a:t>Tailwind CSS </a:t>
            </a:r>
          </a:p>
          <a:p>
            <a:pPr lvl="0"/>
            <a:r>
              <a:rPr lang="en-IN" dirty="0"/>
              <a:t>Axios </a:t>
            </a:r>
          </a:p>
          <a:p>
            <a:pPr marL="0" indent="0">
              <a:buNone/>
            </a:pPr>
            <a:r>
              <a:rPr lang="en-IN" dirty="0"/>
              <a:t>Backend</a:t>
            </a:r>
          </a:p>
          <a:p>
            <a:pPr lvl="0"/>
            <a:r>
              <a:rPr lang="en-IN" dirty="0"/>
              <a:t>Express.js </a:t>
            </a:r>
          </a:p>
          <a:p>
            <a:pPr lvl="0"/>
            <a:r>
              <a:rPr lang="en-IN" dirty="0"/>
              <a:t>Node.js </a:t>
            </a:r>
          </a:p>
          <a:p>
            <a:pPr lvl="0"/>
            <a:r>
              <a:rPr lang="en-IN" dirty="0"/>
              <a:t>Socket.IO 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lvl="0"/>
            <a:r>
              <a:rPr lang="en-IN" dirty="0"/>
              <a:t>PostgreSQL </a:t>
            </a:r>
          </a:p>
          <a:p>
            <a:pPr marL="0" indent="0">
              <a:buNone/>
            </a:pPr>
            <a:r>
              <a:rPr lang="en-IN" dirty="0"/>
              <a:t>Authentication</a:t>
            </a:r>
          </a:p>
          <a:p>
            <a:pPr lvl="0"/>
            <a:r>
              <a:rPr lang="en-IN" dirty="0"/>
              <a:t>JWT </a:t>
            </a:r>
          </a:p>
          <a:p>
            <a:pPr lvl="0"/>
            <a:r>
              <a:rPr lang="en-IN" dirty="0" err="1"/>
              <a:t>bcrypt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AI</a:t>
            </a:r>
          </a:p>
          <a:p>
            <a:pPr lvl="0"/>
            <a:r>
              <a:rPr lang="en-IN" dirty="0"/>
              <a:t>TensorFlow </a:t>
            </a:r>
          </a:p>
          <a:p>
            <a:pPr lvl="0"/>
            <a:r>
              <a:rPr lang="en-IN" dirty="0"/>
              <a:t>OpenCV </a:t>
            </a:r>
          </a:p>
          <a:p>
            <a:pPr lvl="0"/>
            <a:r>
              <a:rPr lang="en-IN" dirty="0"/>
              <a:t>scikit-learn </a:t>
            </a:r>
          </a:p>
          <a:p>
            <a:pPr marL="0" indent="0">
              <a:buNone/>
            </a:pPr>
            <a:r>
              <a:rPr lang="en-IN" dirty="0"/>
              <a:t>Image Upload</a:t>
            </a:r>
          </a:p>
          <a:p>
            <a:pPr lvl="0"/>
            <a:r>
              <a:rPr lang="en-IN" dirty="0"/>
              <a:t>Multer </a:t>
            </a:r>
          </a:p>
          <a:p>
            <a:pPr lvl="0"/>
            <a:r>
              <a:rPr lang="en-IN" dirty="0" err="1"/>
              <a:t>Cloudinary</a:t>
            </a:r>
            <a:r>
              <a:rPr lang="en-IN" dirty="0"/>
              <a:t> SDK </a:t>
            </a:r>
          </a:p>
          <a:p>
            <a:pPr marL="0" indent="0">
              <a:buNone/>
            </a:pPr>
            <a:r>
              <a:rPr lang="en-IN" dirty="0"/>
              <a:t>Maps</a:t>
            </a:r>
          </a:p>
          <a:p>
            <a:pPr lvl="0"/>
            <a:r>
              <a:rPr lang="en-IN" dirty="0"/>
              <a:t>Google Maps SDK </a:t>
            </a:r>
          </a:p>
          <a:p>
            <a:pPr marL="0" indent="0">
              <a:buNone/>
            </a:pPr>
            <a:r>
              <a:rPr lang="en-IN" dirty="0"/>
              <a:t>Charts</a:t>
            </a:r>
          </a:p>
          <a:p>
            <a:pPr lvl="0"/>
            <a:r>
              <a:rPr lang="en-IN" dirty="0"/>
              <a:t>Chart.js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357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9A955-A9BD-CBFC-B5A7-8F92A61E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FED7-EE38-5716-BC0E-27D942BD9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Available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4FFFD-C8F5-455B-919C-E0EDB11FA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1"/>
            <a:r>
              <a:rPr lang="en-IN" dirty="0"/>
              <a:t>Government Datasets</a:t>
            </a:r>
          </a:p>
          <a:p>
            <a:r>
              <a:rPr lang="en-IN" b="1" dirty="0"/>
              <a:t>AGMARKNET</a:t>
            </a:r>
          </a:p>
          <a:p>
            <a:pPr lvl="0"/>
            <a:r>
              <a:rPr lang="en-IN" dirty="0"/>
              <a:t>Daily mandi prices </a:t>
            </a:r>
          </a:p>
          <a:p>
            <a:pPr lvl="0"/>
            <a:r>
              <a:rPr lang="en-IN" dirty="0"/>
              <a:t>Commodity prices </a:t>
            </a:r>
          </a:p>
          <a:p>
            <a:pPr lvl="0"/>
            <a:r>
              <a:rPr lang="en-IN" dirty="0"/>
              <a:t>Historical trends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 err="1"/>
              <a:t>eNAM</a:t>
            </a:r>
            <a:endParaRPr lang="en-IN" b="1" dirty="0"/>
          </a:p>
          <a:p>
            <a:pPr lvl="0"/>
            <a:r>
              <a:rPr lang="en-IN" dirty="0"/>
              <a:t>Trading data </a:t>
            </a:r>
          </a:p>
          <a:p>
            <a:pPr lvl="0"/>
            <a:r>
              <a:rPr lang="en-IN" dirty="0"/>
              <a:t>Commodity arrivals </a:t>
            </a:r>
          </a:p>
          <a:p>
            <a:pPr lvl="0"/>
            <a:r>
              <a:rPr lang="en-IN" dirty="0"/>
              <a:t>Market prices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Kaggle</a:t>
            </a:r>
          </a:p>
          <a:p>
            <a:pPr lvl="0"/>
            <a:r>
              <a:rPr lang="en-IN" dirty="0" err="1"/>
              <a:t>Agmarknet</a:t>
            </a:r>
            <a:r>
              <a:rPr lang="en-IN" dirty="0"/>
              <a:t> Historical Prices </a:t>
            </a:r>
          </a:p>
          <a:p>
            <a:pPr lvl="0"/>
            <a:r>
              <a:rPr lang="en-IN" dirty="0"/>
              <a:t>Indian Mandi Prices </a:t>
            </a:r>
          </a:p>
          <a:p>
            <a:pPr lvl="0"/>
            <a:r>
              <a:rPr lang="en-IN" dirty="0"/>
              <a:t>Wholesale Commodity Prices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AI Dataset</a:t>
            </a:r>
          </a:p>
          <a:p>
            <a:r>
              <a:rPr lang="en-IN" dirty="0" err="1"/>
              <a:t>PlantVillage</a:t>
            </a:r>
            <a:endParaRPr lang="en-IN" dirty="0"/>
          </a:p>
          <a:p>
            <a:r>
              <a:rPr lang="en-IN" dirty="0"/>
              <a:t>Used for future crop quality and disease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1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E5BA-6E78-76CF-4A5F-5DE20E7E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21F6-0B04-0E45-FE88-BDB65325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A16ED-0076-2FFB-CC8E-88BCC7EA7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Our Unique Contributions</a:t>
            </a:r>
          </a:p>
          <a:p>
            <a:pPr lvl="0"/>
            <a:r>
              <a:rPr lang="en-IN" dirty="0"/>
              <a:t>Reverse Procurement Marketplace </a:t>
            </a:r>
          </a:p>
          <a:p>
            <a:pPr lvl="0"/>
            <a:r>
              <a:rPr lang="en-IN" dirty="0"/>
              <a:t>Supplier Posts Demand </a:t>
            </a:r>
          </a:p>
          <a:p>
            <a:pPr lvl="0"/>
            <a:r>
              <a:rPr lang="en-IN" dirty="0"/>
              <a:t>Farmers Submit Competitive Bids </a:t>
            </a:r>
          </a:p>
          <a:p>
            <a:pPr lvl="0"/>
            <a:r>
              <a:rPr lang="en-IN" dirty="0"/>
              <a:t>Product Image Verification </a:t>
            </a:r>
          </a:p>
          <a:p>
            <a:pPr lvl="0"/>
            <a:r>
              <a:rPr lang="en-IN" dirty="0"/>
              <a:t>Manual &amp; Smart Bid Selection </a:t>
            </a:r>
          </a:p>
          <a:p>
            <a:pPr lvl="0"/>
            <a:r>
              <a:rPr lang="en-IN" dirty="0"/>
              <a:t>Partial Order </a:t>
            </a:r>
            <a:r>
              <a:rPr lang="en-IN" dirty="0" err="1"/>
              <a:t>Fulfillment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Live Market Price Dashboard </a:t>
            </a:r>
          </a:p>
          <a:p>
            <a:pPr lvl="0"/>
            <a:r>
              <a:rPr lang="en-IN" dirty="0"/>
              <a:t>Delivery Tracking </a:t>
            </a:r>
          </a:p>
          <a:p>
            <a:pPr lvl="0"/>
            <a:r>
              <a:rPr lang="en-IN" dirty="0"/>
              <a:t>Fair Pricing Transparency </a:t>
            </a:r>
          </a:p>
          <a:p>
            <a:pPr lvl="0"/>
            <a:r>
              <a:rPr lang="en-IN" dirty="0"/>
              <a:t>Digital Payments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91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120D-3F61-C5AF-E882-3ECEB2A7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1597-AF33-9C02-09F5-89A31230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7A6E-2749-1DF4-25B9-5962805B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AI-based Crop Quality Detection </a:t>
            </a:r>
          </a:p>
          <a:p>
            <a:pPr lvl="0"/>
            <a:r>
              <a:rPr lang="en-IN" dirty="0"/>
              <a:t>Price Prediction </a:t>
            </a:r>
          </a:p>
          <a:p>
            <a:pPr lvl="0"/>
            <a:r>
              <a:rPr lang="en-IN" dirty="0"/>
              <a:t>Demand Forecasting </a:t>
            </a:r>
          </a:p>
          <a:p>
            <a:pPr lvl="0"/>
            <a:r>
              <a:rPr lang="en-IN" dirty="0"/>
              <a:t>Multilingual Voice Assistant </a:t>
            </a:r>
          </a:p>
          <a:p>
            <a:pPr lvl="0"/>
            <a:r>
              <a:rPr lang="en-IN" dirty="0"/>
              <a:t>Blockchain Payment Verification </a:t>
            </a:r>
          </a:p>
          <a:p>
            <a:pPr lvl="0"/>
            <a:r>
              <a:rPr lang="en-IN" dirty="0"/>
              <a:t>IoT Integration </a:t>
            </a:r>
          </a:p>
          <a:p>
            <a:pPr lvl="0"/>
            <a:r>
              <a:rPr lang="en-IN" dirty="0"/>
              <a:t>Warehouse Management </a:t>
            </a:r>
          </a:p>
          <a:p>
            <a:pPr lvl="0"/>
            <a:r>
              <a:rPr lang="en-IN" dirty="0"/>
              <a:t>Credit Scoring for Farmers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912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1E0F-CD91-43BD-A145-AAFCA1B5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646E1-0258-0F3D-99A9-86E7835F0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Benefits for Farmers</a:t>
            </a:r>
          </a:p>
          <a:p>
            <a:pPr lvl="0"/>
            <a:r>
              <a:rPr lang="en-IN" dirty="0"/>
              <a:t>Better selling price </a:t>
            </a:r>
          </a:p>
          <a:p>
            <a:pPr lvl="0"/>
            <a:r>
              <a:rPr lang="en-IN" dirty="0"/>
              <a:t>More buyers </a:t>
            </a:r>
          </a:p>
          <a:p>
            <a:pPr lvl="0"/>
            <a:r>
              <a:rPr lang="en-IN" dirty="0"/>
              <a:t>Transparent pricing </a:t>
            </a:r>
          </a:p>
          <a:p>
            <a:pPr lvl="0"/>
            <a:r>
              <a:rPr lang="en-IN" dirty="0"/>
              <a:t>Secure payments </a:t>
            </a:r>
          </a:p>
          <a:p>
            <a:r>
              <a:rPr lang="en-IN" dirty="0"/>
              <a:t>Benefits for Suppliers</a:t>
            </a:r>
          </a:p>
          <a:p>
            <a:pPr lvl="0"/>
            <a:r>
              <a:rPr lang="en-IN" dirty="0"/>
              <a:t>Faster procurement </a:t>
            </a:r>
          </a:p>
          <a:p>
            <a:pPr lvl="0"/>
            <a:r>
              <a:rPr lang="en-IN" dirty="0"/>
              <a:t>Competitive pricing </a:t>
            </a:r>
          </a:p>
          <a:p>
            <a:pPr lvl="0"/>
            <a:r>
              <a:rPr lang="en-IN" dirty="0"/>
              <a:t>Verified quality </a:t>
            </a:r>
          </a:p>
          <a:p>
            <a:pPr lvl="0"/>
            <a:r>
              <a:rPr lang="en-IN" dirty="0"/>
              <a:t>Easy logistics </a:t>
            </a:r>
          </a:p>
          <a:p>
            <a:r>
              <a:rPr lang="en-IN" dirty="0"/>
              <a:t>Benefits for Customers</a:t>
            </a:r>
          </a:p>
          <a:p>
            <a:pPr lvl="0"/>
            <a:r>
              <a:rPr lang="en-IN" dirty="0"/>
              <a:t>Better quality products </a:t>
            </a:r>
          </a:p>
          <a:p>
            <a:pPr lvl="0"/>
            <a:r>
              <a:rPr lang="en-IN" dirty="0"/>
              <a:t>Traceable supply chain </a:t>
            </a:r>
          </a:p>
          <a:p>
            <a:pPr lvl="0"/>
            <a:r>
              <a:rPr lang="en-IN" dirty="0"/>
              <a:t>Reliable deliveries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421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DDAB4F-EC0E-B084-EE18-EA946AB7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940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656</Words>
  <Application>Microsoft Office PowerPoint</Application>
  <PresentationFormat>Widescreen</PresentationFormat>
  <Paragraphs>250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AgriBid – A Transparent Reverse Procurement Marketplace for Farmers and Suppliers </vt:lpstr>
      <vt:lpstr>Problem Statement</vt:lpstr>
      <vt:lpstr>Proposed Solution</vt:lpstr>
      <vt:lpstr>Project Scope</vt:lpstr>
      <vt:lpstr>PowerPoint Presentation</vt:lpstr>
      <vt:lpstr>PowerPoint Presentation</vt:lpstr>
      <vt:lpstr>System Workflow</vt:lpstr>
      <vt:lpstr>Existing Research</vt:lpstr>
      <vt:lpstr>Existing Commercial Products</vt:lpstr>
      <vt:lpstr>Comparison Table</vt:lpstr>
      <vt:lpstr>Available APIs</vt:lpstr>
      <vt:lpstr>Libraries</vt:lpstr>
      <vt:lpstr>Available Datasets</vt:lpstr>
      <vt:lpstr>Novel Features</vt:lpstr>
      <vt:lpstr>Future Enhancements</vt:lpstr>
      <vt:lpstr>Expected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Ninad Patil</dc:creator>
  <cp:lastModifiedBy>Ninad Patil</cp:lastModifiedBy>
  <cp:revision>33</cp:revision>
  <dcterms:created xsi:type="dcterms:W3CDTF">2026-07-30T10:44:05Z</dcterms:created>
  <dcterms:modified xsi:type="dcterms:W3CDTF">2026-07-30T11:18:28Z</dcterms:modified>
</cp:coreProperties>
</file>